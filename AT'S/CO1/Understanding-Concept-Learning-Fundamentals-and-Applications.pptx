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lice"/>
      <p:regular r:id="rId201314"/>
    </p:embeddedFont>
    <p:embeddedFont>
      <p:font typeface="Lora"/>
      <p:regular r:id="rId201315"/>
    </p:embeddedFont>
    <p:embeddedFont>
      <p:font typeface="Lora Medium"/>
      <p:regular r:id="rId201316"/>
    </p:embeddedFont>
    <p:embeddedFont>
      <p:font typeface="Lora SemiBold"/>
      <p:regular r:id="rId201317"/>
    </p:embeddedFont>
    <p:embeddedFont>
      <p:font typeface="Lora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F2D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CFBF8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jpeg"/><Relationship Id="rId3" Type="http://schemas.openxmlformats.org/officeDocument/2006/relationships/image" Target="../media/image-9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594991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Understanding Concept Learning: Fundamentals and Applications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556123"/>
            <a:ext cx="4722763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This deck explains concept learning — the process by which a system acquires a formal definition of a concept from examples — and shows how hypotheses are represented, evaluated, and refined. We'll cover the general-to-specific ordering of hypotheses, the role of training examples, and how concept learning supports classification and knowledge extraction.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579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What is Concept Learning? Defining the Task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456929"/>
            <a:ext cx="472276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Concept learning is the task of inferring a Boolean function (a concept) that maps instances (with attributes) to labels (positive/negative). Given a set of labeled training examples, the learner searches a hypothesis space to find hypotheses that correctly classify seen instances and generalize to unseen ones. This formalizes intuitive tasks like "which emails are spam?" or "which patients have condition X?".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495797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Importance of Concept Learning in Machine Learning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456929"/>
            <a:ext cx="4722763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Concept learning underpins supervised learning and many practical systems: - Provides a structured way to generalize from examples to rules. - Enables interpretable models when hypotheses are symbolic. - Serves as a foundation for feature selection, bias-variance tradeoff reasoning, and active learning strategies. Good concept learners improve prediction accuracy, reduce error, and make model behavior easier to inspect and debug.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9652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Representing Hypotheses: Attributes, Values, and Structures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357661"/>
            <a:ext cx="472276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A hypothesis is a candidate concept expressed using the instance attributes. Common representations: - Conjunctive (attribute = value) rules (e.g., Outlook=Sunny AND Humidity=Low). - Decision trees (hierarchical attribute tests). - Logical formulas (first-order or propositional logic). - Feature vectors with weight vectors (linear classifiers). Representational choices determine expressiveness, interpretability, and the size of the hypothesis space the learner must search.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9652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Evaluating Hypotheses: Consistency and Coverage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357661"/>
            <a:ext cx="472276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Two core evaluation criteria: - Consistency: A hypothesis is consistent if it correctly classifies all training examples (no contradictions). Complete consistency may be impossible with noisy data. - Coverage (or generality): Measures how many instances the hypothesis classifies as positive. Overly general hypotheses may misclassify many negatives; overly specific ones may overfit. Practical evaluation uses cross-validation, held-out data, or statistical measures (precision, recall, accuracy) to balance fit and generalization.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96529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General-to-Specific Ordering: Navigating the Hypothesis Space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357661"/>
            <a:ext cx="472276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The hypothesis space can be partially ordered from most specific to most general. This ordering supports systematic search strategies: - Start with the most specific hypothesis that fits a positive example, and generalize minimally to include additional positives. - Or start with the most general hypothesis and specialize to exclude negatives. Algorithms (e.g., Find-S, version spaces) maintain boundary sets: the most specific (S) and most general (G) hypotheses consistent with data, narrowing the space as examples arrive.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02754"/>
            <a:ext cx="4722763" cy="1162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The Role of Training Examples: Refining and Constraining Hypotheses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551435"/>
            <a:ext cx="4722763" cy="1389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Training examples drive learning by eliminating inconsistent hypotheses: - Positive examples force generalization of S (expand to cover them). - Negative examples force specialization of G (restrict to exclude them). Each labeled example shrinks the feasible region in hypothesis space; repeated exposure converges S and G toward target concepts (or to a small set of plausible hypotheses if noise exists). Example selection quality, quantity, and diversity directly impact convergence speed and final accuracy.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9733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Concept Learning for Classification Problems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258467"/>
            <a:ext cx="472276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In classification, concept learning produces a decision rule that maps input attributes to discrete class labels. Benefits include: - Clear mapping from attributes to predicted class (interpretable rules). - Ability to incorporate inductive biases (e.g., prefer shorter rules, smooth decision boundaries) that guide generalization. - Integration with preprocessing: feature engineering, discretization, and attribute selection improve hypothesis clarity and performance. Concept learners can be adapted for multiclass tasks, probabilistic outputs, and ensemble methods for robustness.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55452"/>
            <a:ext cx="815176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Extracting Knowledge: Beyond Simple Classification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91023"/>
            <a:ext cx="757982" cy="947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09105" y="1991023"/>
            <a:ext cx="17008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Rule Extraction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09105" y="2259285"/>
            <a:ext cx="17008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Derived hypotheses become human-readable rules used for explanations, compliance, and decision support.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991" y="1991023"/>
            <a:ext cx="757982" cy="94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177978" y="1991023"/>
            <a:ext cx="17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Knowledge Integration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177978" y="2259285"/>
            <a:ext cx="1700957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Learned concepts can seed ontologies, taxonomies, or knowledge graphs to enrich domain models.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939" y="1991023"/>
            <a:ext cx="757982" cy="9474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46925" y="1991023"/>
            <a:ext cx="170095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821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Insight Discovery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946925" y="2259285"/>
            <a:ext cx="1700957" cy="992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Patterns found during concept learning reveal causal hypotheses, subgroups, and anomalies worth further study.</a:t>
            </a:r>
            <a:endParaRPr lang="en-US" sz="950" dirty="0"/>
          </a:p>
        </p:txBody>
      </p:sp>
      <p:sp>
        <p:nvSpPr>
          <p:cNvPr id="12" name="Text 7"/>
          <p:cNvSpPr/>
          <p:nvPr/>
        </p:nvSpPr>
        <p:spPr>
          <a:xfrm>
            <a:off x="496119" y="3391123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Concept learning therefore supports not only prediction but also explanation, policy encoding, and domain knowledge growth — useful in healthcare, finance, and scientific discovery.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95895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33E32"/>
                </a:solidFill>
                <a:latin typeface="Alice" pitchFamily="34" charset="0"/>
                <a:ea typeface="Alice" pitchFamily="34" charset="-122"/>
                <a:cs typeface="Alice" pitchFamily="34" charset="-120"/>
              </a:rPr>
              <a:t>Key Takeaways: Impact and Future Directions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457027"/>
            <a:ext cx="4722763" cy="21581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Concept learning formalizes how systems generalize from examples into hypotheses.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Hypotheses are represented in many forms (rules, trees, linear models), each with trade-offs.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Evaluation balances consistency (fit) and coverage (generality) to avoid overfitting or underfitting.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General-to-specific ordering and training examples drive efficient search and refinement in hypothesis space.</a:t>
            </a:r>
            <a:endParaRPr lang="en-US" sz="950" dirty="0"/>
          </a:p>
          <a:p>
            <a:pPr algn="l" marL="193040" indent="-193040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2C2821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Beyond classification, concept learning enables interpretable rules and knowledge extraction that inform decisions and research.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3754710"/>
            <a:ext cx="4722763" cy="892894"/>
          </a:xfrm>
          <a:prstGeom prst="roundRect">
            <a:avLst>
              <a:gd name="adj" fmla="val 2084"/>
            </a:avLst>
          </a:prstGeom>
          <a:solidFill>
            <a:srgbClr val="D7F4E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9092" y="3934495"/>
            <a:ext cx="155004" cy="1239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28071" y="3909640"/>
            <a:ext cx="419583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 Next steps: Experiment with different hypothesis representations, monitor S and G boundaries during training, and prioritize diverse, high-quality examples to accelerate learning.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2026-07-29T03:04:56Z</dcterms:created>
  <dcterms:modified xsi:type="dcterms:W3CDTF">2026-07-29T03:04:56Z</dcterms:modified>
</cp:coreProperties>
</file>